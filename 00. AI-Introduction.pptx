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71" r:id="rId9"/>
    <p:sldId id="261" r:id="rId10"/>
    <p:sldId id="262" r:id="rId11"/>
    <p:sldId id="274" r:id="rId12"/>
    <p:sldId id="263" r:id="rId13"/>
    <p:sldId id="264" r:id="rId14"/>
    <p:sldId id="265" r:id="rId15"/>
    <p:sldId id="266" r:id="rId16"/>
    <p:sldId id="267" r:id="rId17"/>
    <p:sldId id="268" r:id="rId18"/>
    <p:sldId id="275" r:id="rId19"/>
  </p:sldIdLst>
  <p:sldSz cx="18288000" cy="10287000"/>
  <p:notesSz cx="6858000" cy="9144000"/>
  <p:embeddedFontLst>
    <p:embeddedFont>
      <p:font typeface="DM Sans" pitchFamily="2" charset="0"/>
      <p:regular r:id="rId20"/>
      <p:bold r:id="rId21"/>
    </p:embeddedFont>
    <p:embeddedFont>
      <p:font typeface="DM Sans Bold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6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506200" y="0"/>
            <a:ext cx="6781800" cy="10287000"/>
          </a:xfrm>
          <a:custGeom>
            <a:avLst/>
            <a:gdLst/>
            <a:ahLst/>
            <a:cxnLst/>
            <a:rect l="l" t="t" r="r" b="b"/>
            <a:pathLst>
              <a:path w="6802445" h="10392624">
                <a:moveTo>
                  <a:pt x="0" y="0"/>
                </a:moveTo>
                <a:lnTo>
                  <a:pt x="6802444" y="0"/>
                </a:lnTo>
                <a:lnTo>
                  <a:pt x="6802444" y="10392624"/>
                </a:lnTo>
                <a:lnTo>
                  <a:pt x="0" y="10392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228600" y="2671444"/>
            <a:ext cx="12700992" cy="272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88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SUN’IY INTELLEKT</a:t>
            </a:r>
          </a:p>
          <a:p>
            <a:pPr algn="ctr">
              <a:lnSpc>
                <a:spcPts val="10499"/>
              </a:lnSpc>
            </a:pPr>
            <a:r>
              <a:rPr lang="en-US" sz="8800" dirty="0" err="1">
                <a:solidFill>
                  <a:srgbClr val="FFFFFF"/>
                </a:solidFill>
                <a:latin typeface="DM Sans"/>
                <a:ea typeface="DM Sans Bold"/>
                <a:cs typeface="DM Sans Bold"/>
                <a:sym typeface="DM Sans"/>
              </a:rPr>
              <a:t>Asosiy</a:t>
            </a:r>
            <a:r>
              <a:rPr lang="en-US" sz="8800" dirty="0">
                <a:solidFill>
                  <a:srgbClr val="FFFFFF"/>
                </a:solidFill>
                <a:latin typeface="DM Sans"/>
                <a:ea typeface="DM Sans Bold"/>
                <a:cs typeface="DM Sans Bold"/>
                <a:sym typeface="DM Sans"/>
              </a:rPr>
              <a:t> </a:t>
            </a:r>
            <a:r>
              <a:rPr lang="en-US" sz="8800" dirty="0" err="1">
                <a:solidFill>
                  <a:srgbClr val="FFFFFF"/>
                </a:solidFill>
                <a:latin typeface="DM Sans"/>
                <a:ea typeface="DM Sans Bold"/>
                <a:cs typeface="DM Sans Bold"/>
                <a:sym typeface="DM Sans"/>
              </a:rPr>
              <a:t>tushunchalar</a:t>
            </a:r>
            <a:endParaRPr lang="en-US" sz="8800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6362700"/>
            <a:ext cx="828221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Elmurod Quriyozov, PhD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3200" y="723900"/>
            <a:ext cx="5124301" cy="96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Abu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Rayhon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Beruniy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nomidagi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Urganch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davlat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universiteti</a:t>
            </a:r>
            <a:endParaRPr lang="en-US" sz="2400" b="1" spc="360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43870" y="8951595"/>
            <a:ext cx="3990529" cy="31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360" dirty="0" err="1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Urganch</a:t>
            </a:r>
            <a:r>
              <a:rPr lang="en-US" sz="2000" spc="36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, 2026-yil</a:t>
            </a:r>
            <a:endParaRPr lang="en-US" sz="2000" spc="360" dirty="0">
              <a:solidFill>
                <a:srgbClr val="BFA8E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pic>
        <p:nvPicPr>
          <p:cNvPr id="1032" name="Picture 8" descr="Urgench State University">
            <a:extLst>
              <a:ext uri="{FF2B5EF4-FFF2-40B4-BE49-F238E27FC236}">
                <a16:creationId xmlns:a16="http://schemas.microsoft.com/office/drawing/2014/main" id="{D7576AD9-D93C-2125-2382-900712EAC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9" y="19050"/>
            <a:ext cx="2374615" cy="238122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7D5F9-AF61-A9FD-D34C-6CC77F56F2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65839" y="1208680"/>
            <a:ext cx="6331772" cy="79809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45899" y="1456145"/>
            <a:ext cx="5074853" cy="791385"/>
            <a:chOff x="0" y="0"/>
            <a:chExt cx="1336587" cy="208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587" cy="208431"/>
            </a:xfrm>
            <a:custGeom>
              <a:avLst/>
              <a:gdLst/>
              <a:ahLst/>
              <a:cxnLst/>
              <a:rect l="l" t="t" r="r" b="b"/>
              <a:pathLst>
                <a:path w="1336587" h="208431">
                  <a:moveTo>
                    <a:pt x="104215" y="0"/>
                  </a:moveTo>
                  <a:lnTo>
                    <a:pt x="1232371" y="0"/>
                  </a:lnTo>
                  <a:cubicBezTo>
                    <a:pt x="1289928" y="0"/>
                    <a:pt x="1336587" y="46659"/>
                    <a:pt x="1336587" y="104215"/>
                  </a:cubicBezTo>
                  <a:lnTo>
                    <a:pt x="1336587" y="104215"/>
                  </a:lnTo>
                  <a:cubicBezTo>
                    <a:pt x="1336587" y="161772"/>
                    <a:pt x="1289928" y="208431"/>
                    <a:pt x="1232371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36587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 err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Sun’iy</a:t>
              </a: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000" dirty="0" err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intellekt</a:t>
              </a: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 (SI)(AI)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98635" y="5744947"/>
            <a:ext cx="4462929" cy="791385"/>
            <a:chOff x="0" y="0"/>
            <a:chExt cx="1175422" cy="208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5422" cy="208431"/>
            </a:xfrm>
            <a:custGeom>
              <a:avLst/>
              <a:gdLst/>
              <a:ahLst/>
              <a:cxnLst/>
              <a:rect l="l" t="t" r="r" b="b"/>
              <a:pathLst>
                <a:path w="1175422" h="208431">
                  <a:moveTo>
                    <a:pt x="104215" y="0"/>
                  </a:moveTo>
                  <a:lnTo>
                    <a:pt x="1071206" y="0"/>
                  </a:lnTo>
                  <a:cubicBezTo>
                    <a:pt x="1128763" y="0"/>
                    <a:pt x="1175422" y="46659"/>
                    <a:pt x="1175422" y="104215"/>
                  </a:cubicBezTo>
                  <a:lnTo>
                    <a:pt x="1175422" y="104215"/>
                  </a:lnTo>
                  <a:cubicBezTo>
                    <a:pt x="1175422" y="161772"/>
                    <a:pt x="1128763" y="208431"/>
                    <a:pt x="1071206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175422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Generative AI (Gen AI)</a:t>
              </a:r>
            </a:p>
          </p:txBody>
        </p:sp>
      </p:grpSp>
      <p:sp>
        <p:nvSpPr>
          <p:cNvPr id="8" name="Freeform 8"/>
          <p:cNvSpPr/>
          <p:nvPr/>
        </p:nvSpPr>
        <p:spPr>
          <a:xfrm flipV="1">
            <a:off x="0" y="0"/>
            <a:ext cx="6695902" cy="10287000"/>
          </a:xfrm>
          <a:custGeom>
            <a:avLst/>
            <a:gdLst/>
            <a:ahLst/>
            <a:cxnLst/>
            <a:rect l="l" t="t" r="r" b="b"/>
            <a:pathLst>
              <a:path w="6695902" h="10287000">
                <a:moveTo>
                  <a:pt x="0" y="10287000"/>
                </a:moveTo>
                <a:lnTo>
                  <a:pt x="6695902" y="10287000"/>
                </a:lnTo>
                <a:lnTo>
                  <a:pt x="6695902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76809" y="4294054"/>
            <a:ext cx="4342284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Reja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45899" y="2461265"/>
            <a:ext cx="5301183" cy="247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Evolyutsiyasi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hozirgi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davri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Qo’llanilish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sohalari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Muammolari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98635" y="6783982"/>
            <a:ext cx="5723632" cy="147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GenAI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O’zi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nima</a:t>
            </a: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Qanday </a:t>
            </a: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ishlaydi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Misollar</a:t>
            </a:r>
            <a:endParaRPr lang="en-US" sz="279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58" name="Picture 10" descr="AI - Free computer icons">
            <a:extLst>
              <a:ext uri="{FF2B5EF4-FFF2-40B4-BE49-F238E27FC236}">
                <a16:creationId xmlns:a16="http://schemas.microsoft.com/office/drawing/2014/main" id="{C9B9C415-DC39-BB33-D5FE-55DF25946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106461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GenAI Stack Exchange">
            <a:extLst>
              <a:ext uri="{FF2B5EF4-FFF2-40B4-BE49-F238E27FC236}">
                <a16:creationId xmlns:a16="http://schemas.microsoft.com/office/drawing/2014/main" id="{0259D453-E847-2207-0FA3-654CF8025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4157" y="5561506"/>
            <a:ext cx="3315793" cy="331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552230"/>
            <a:ext cx="652202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Kirish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982708"/>
            <a:ext cx="6869096" cy="477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soha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sifatida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005755" y="482797"/>
            <a:ext cx="8253545" cy="13234547"/>
          </a:xfrm>
          <a:custGeom>
            <a:avLst/>
            <a:gdLst/>
            <a:ahLst/>
            <a:cxnLst/>
            <a:rect l="l" t="t" r="r" b="b"/>
            <a:pathLst>
              <a:path w="8253545" h="13234547">
                <a:moveTo>
                  <a:pt x="0" y="0"/>
                </a:moveTo>
                <a:lnTo>
                  <a:pt x="8253545" y="0"/>
                </a:lnTo>
                <a:lnTo>
                  <a:pt x="8253545" y="13234546"/>
                </a:lnTo>
                <a:lnTo>
                  <a:pt x="0" y="1323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932371" y="1992812"/>
            <a:ext cx="4400314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ARTIFICIAL INTELLIGENCE (AI)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86675" y="5048250"/>
            <a:ext cx="329170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31584" y="7132502"/>
            <a:ext cx="260188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33679" y="8883650"/>
            <a:ext cx="2797698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4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GENERATIVE AI (GEN AI)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75134" y="5981700"/>
            <a:ext cx="11289016" cy="1243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nima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15200" y="7271687"/>
            <a:ext cx="10363200" cy="2584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2799" b="1" dirty="0" err="1">
                <a:solidFill>
                  <a:schemeClr val="bg1"/>
                </a:solidFill>
                <a:latin typeface="DM Sans"/>
              </a:rPr>
              <a:t>Sun’iy</a:t>
            </a:r>
            <a:r>
              <a:rPr lang="en-GB" sz="2799" b="1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b="1" dirty="0" err="1">
                <a:solidFill>
                  <a:schemeClr val="bg1"/>
                </a:solidFill>
                <a:latin typeface="DM Sans"/>
              </a:rPr>
              <a:t>intellekt</a:t>
            </a:r>
            <a:r>
              <a:rPr lang="en-GB" sz="2799" b="1" dirty="0">
                <a:solidFill>
                  <a:schemeClr val="bg1"/>
                </a:solidFill>
                <a:latin typeface="DM Sans"/>
              </a:rPr>
              <a:t> (AI)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—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bu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inson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aqliga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xos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vazifalarni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(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o‘rganish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,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fikrlash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,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qaror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qabul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qilish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,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nutqni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tushunish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,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muammolarni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hal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qilish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)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kompyuter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yoki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mashina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orqali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bajaradigan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texnologiya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.</a:t>
            </a:r>
          </a:p>
          <a:p>
            <a:endParaRPr lang="en-GB" sz="2799" dirty="0">
              <a:solidFill>
                <a:schemeClr val="bg1"/>
              </a:solidFill>
              <a:latin typeface="DM Sans"/>
            </a:endParaRPr>
          </a:p>
          <a:p>
            <a:r>
              <a:rPr lang="en-GB" sz="2799" dirty="0" err="1">
                <a:solidFill>
                  <a:schemeClr val="bg1"/>
                </a:solidFill>
                <a:latin typeface="DM Sans"/>
              </a:rPr>
              <a:t>Oddiy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qilib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aytganda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,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sun’iy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intellekt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—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bu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“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aql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bilan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o‘ylaydigan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”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dastur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yoki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 </a:t>
            </a:r>
            <a:r>
              <a:rPr lang="en-GB" sz="2799" dirty="0" err="1">
                <a:solidFill>
                  <a:schemeClr val="bg1"/>
                </a:solidFill>
                <a:latin typeface="DM Sans"/>
              </a:rPr>
              <a:t>mashina</a:t>
            </a:r>
            <a:r>
              <a:rPr lang="en-GB" sz="2799" dirty="0">
                <a:solidFill>
                  <a:schemeClr val="bg1"/>
                </a:solidFill>
                <a:latin typeface="DM Sans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 rot="5385950">
            <a:off x="-1938970" y="1748074"/>
            <a:ext cx="10432873" cy="6790852"/>
          </a:xfrm>
          <a:custGeom>
            <a:avLst/>
            <a:gdLst/>
            <a:ahLst/>
            <a:cxnLst/>
            <a:rect l="l" t="t" r="r" b="b"/>
            <a:pathLst>
              <a:path w="10432873" h="6790852">
                <a:moveTo>
                  <a:pt x="0" y="0"/>
                </a:moveTo>
                <a:lnTo>
                  <a:pt x="10432873" y="0"/>
                </a:lnTo>
                <a:lnTo>
                  <a:pt x="10432873" y="6790852"/>
                </a:lnTo>
                <a:lnTo>
                  <a:pt x="0" y="6790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2939137-2723-D46C-3F57-E39214638816}"/>
              </a:ext>
            </a:extLst>
          </p:cNvPr>
          <p:cNvSpPr txBox="1"/>
          <p:nvPr/>
        </p:nvSpPr>
        <p:spPr>
          <a:xfrm>
            <a:off x="6998984" y="571500"/>
            <a:ext cx="11289016" cy="1243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nima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BEA6491-03F2-4D71-8032-D097B60DF4F5}"/>
              </a:ext>
            </a:extLst>
          </p:cNvPr>
          <p:cNvSpPr txBox="1"/>
          <p:nvPr/>
        </p:nvSpPr>
        <p:spPr>
          <a:xfrm>
            <a:off x="7162800" y="2309495"/>
            <a:ext cx="10515600" cy="2478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bu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inson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yoki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tizimning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bilim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olish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tushunish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muammolarni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hal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qilish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tajribadan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o‘rganish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mantiqiy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qaror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qabul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qilish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qobiliyatidir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  <a:p>
            <a:pPr algn="just">
              <a:lnSpc>
                <a:spcPts val="3919"/>
              </a:lnSpc>
            </a:pP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Oddiy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qilib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aytganda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bu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aql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bilan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fikrlash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moslashish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qobiliyati</a:t>
            </a:r>
            <a:r>
              <a:rPr lang="en-US" sz="2799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7" name="AutoShape 4" descr="Intellect Icons - Free SVG &amp; PNG Intellect Images - Noun Project">
            <a:extLst>
              <a:ext uri="{FF2B5EF4-FFF2-40B4-BE49-F238E27FC236}">
                <a16:creationId xmlns:a16="http://schemas.microsoft.com/office/drawing/2014/main" id="{AEA652A5-2D01-65FD-5D7E-369ED610ED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20711" y="4239335"/>
            <a:ext cx="386101" cy="41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8" name="Picture 6" descr="Intelligent PNGs for Free Download">
            <a:extLst>
              <a:ext uri="{FF2B5EF4-FFF2-40B4-BE49-F238E27FC236}">
                <a16:creationId xmlns:a16="http://schemas.microsoft.com/office/drawing/2014/main" id="{1590E7F6-9DD6-5814-70FE-31B4131A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11" y="2724861"/>
            <a:ext cx="5694985" cy="452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54840-E464-8D41-E463-727CC14F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CC5DF6-3BA8-85A1-2E8B-190F5A0F2F2B}"/>
              </a:ext>
            </a:extLst>
          </p:cNvPr>
          <p:cNvSpPr txBox="1"/>
          <p:nvPr/>
        </p:nvSpPr>
        <p:spPr>
          <a:xfrm>
            <a:off x="1202237" y="1714500"/>
            <a:ext cx="4588963" cy="368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Qanday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ishlaydi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EC3B94E-4063-A58C-9977-906FDAFC458D}"/>
              </a:ext>
            </a:extLst>
          </p:cNvPr>
          <p:cNvSpPr txBox="1"/>
          <p:nvPr/>
        </p:nvSpPr>
        <p:spPr>
          <a:xfrm>
            <a:off x="762000" y="5524500"/>
            <a:ext cx="5181600" cy="977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Orqasida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turgan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haqiqiy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matematika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D3424F2-D033-15F4-5293-271E0463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8463"/>
            <a:ext cx="11690592" cy="953126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61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AD256-FEFB-DF5E-EC43-6114FE83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6AB0545-75FD-2FA7-ADEA-71BF3A067F06}"/>
              </a:ext>
            </a:extLst>
          </p:cNvPr>
          <p:cNvSpPr txBox="1"/>
          <p:nvPr/>
        </p:nvSpPr>
        <p:spPr>
          <a:xfrm>
            <a:off x="1202237" y="1714500"/>
            <a:ext cx="4588963" cy="3680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Qanday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ishlaydi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570BB1-379F-8B9C-2168-A8B05B72B647}"/>
              </a:ext>
            </a:extLst>
          </p:cNvPr>
          <p:cNvSpPr txBox="1"/>
          <p:nvPr/>
        </p:nvSpPr>
        <p:spPr>
          <a:xfrm>
            <a:off x="762000" y="5524500"/>
            <a:ext cx="5181600" cy="977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Orqasida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turgan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haqiqiy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matematika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F1E76A7-321E-77FC-26A3-655599B24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9700"/>
            <a:ext cx="11797998" cy="7696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86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15952" y="5739163"/>
            <a:ext cx="18303952" cy="3551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979586" y="5297200"/>
            <a:ext cx="838723" cy="83872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9477" y="4211188"/>
            <a:ext cx="1858941" cy="791385"/>
            <a:chOff x="0" y="0"/>
            <a:chExt cx="489598" cy="208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1956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76288" y="5319801"/>
            <a:ext cx="838723" cy="83872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66179" y="4233790"/>
            <a:ext cx="1858941" cy="791385"/>
            <a:chOff x="0" y="0"/>
            <a:chExt cx="489598" cy="2084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1980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2989" y="5342403"/>
            <a:ext cx="838723" cy="8387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62880" y="4256391"/>
            <a:ext cx="1858941" cy="791385"/>
            <a:chOff x="0" y="0"/>
            <a:chExt cx="489598" cy="2084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2012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469691" y="5365004"/>
            <a:ext cx="838723" cy="83872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B6A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14101" y="4250533"/>
            <a:ext cx="2549901" cy="877676"/>
            <a:chOff x="0" y="0"/>
            <a:chExt cx="489598" cy="20843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2022-2023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24140" y="6532683"/>
            <a:ext cx="3349613" cy="1238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Sun’iy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intellekt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”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atamasining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yaratilishi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871488" y="6510881"/>
            <a:ext cx="2048321" cy="123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Ekspert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tizimlar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davri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68190" y="6533482"/>
            <a:ext cx="2048321" cy="123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Deep Learning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inqilobi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864892" y="6556084"/>
            <a:ext cx="2048321" cy="164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Katta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til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modellari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(LLM)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davri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238811" y="1439220"/>
            <a:ext cx="981037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Eolyutsiyasi</a:t>
            </a:r>
            <a:endParaRPr lang="en-US" sz="9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600737" y="2666610"/>
            <a:ext cx="708652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Yillar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mobaynida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AI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rivoji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51DBC-58BB-2D48-12C0-9E7F714D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>
            <a:extLst>
              <a:ext uri="{FF2B5EF4-FFF2-40B4-BE49-F238E27FC236}">
                <a16:creationId xmlns:a16="http://schemas.microsoft.com/office/drawing/2014/main" id="{62CF62DB-5B61-D39E-E180-BA343F3C6655}"/>
              </a:ext>
            </a:extLst>
          </p:cNvPr>
          <p:cNvSpPr txBox="1"/>
          <p:nvPr/>
        </p:nvSpPr>
        <p:spPr>
          <a:xfrm>
            <a:off x="4238811" y="1439220"/>
            <a:ext cx="981037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Eolyutsiyasi</a:t>
            </a:r>
            <a:endParaRPr lang="en-US" sz="9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973DD52D-6EFA-6F16-9662-8C8F8BE38A67}"/>
              </a:ext>
            </a:extLst>
          </p:cNvPr>
          <p:cNvSpPr txBox="1"/>
          <p:nvPr/>
        </p:nvSpPr>
        <p:spPr>
          <a:xfrm>
            <a:off x="5600737" y="2666610"/>
            <a:ext cx="708652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Asrlar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kesimida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AI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rivoji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98" name="Picture 2" descr="An overview of AI’s evolution through the decades from the 1950s to the 2020s">
            <a:extLst>
              <a:ext uri="{FF2B5EF4-FFF2-40B4-BE49-F238E27FC236}">
                <a16:creationId xmlns:a16="http://schemas.microsoft.com/office/drawing/2014/main" id="{0311C0EF-6AD5-64B6-C617-AB21E64FC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/>
          <a:stretch>
            <a:fillRect/>
          </a:stretch>
        </p:blipFill>
        <p:spPr bwMode="auto">
          <a:xfrm>
            <a:off x="1714500" y="3238500"/>
            <a:ext cx="14859000" cy="67978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39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7697016" y="266700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54200" y="4457700"/>
            <a:ext cx="1665514" cy="1665514"/>
          </a:xfrm>
          <a:custGeom>
            <a:avLst/>
            <a:gdLst/>
            <a:ahLst/>
            <a:cxnLst/>
            <a:rect l="l" t="t" r="r" b="b"/>
            <a:pathLst>
              <a:path w="1665514" h="1665514">
                <a:moveTo>
                  <a:pt x="0" y="0"/>
                </a:moveTo>
                <a:lnTo>
                  <a:pt x="1665515" y="0"/>
                </a:lnTo>
                <a:lnTo>
                  <a:pt x="1665515" y="1665514"/>
                </a:lnTo>
                <a:lnTo>
                  <a:pt x="0" y="166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8200" y="647700"/>
            <a:ext cx="5749984" cy="361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60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60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intellektning</a:t>
            </a:r>
            <a:r>
              <a:rPr lang="en-US" sz="60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hozirgi</a:t>
            </a:r>
            <a:r>
              <a:rPr lang="en-US" sz="600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holati</a:t>
            </a:r>
            <a:endParaRPr lang="en-US" sz="6000" b="1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7200" y="4639882"/>
            <a:ext cx="6476997" cy="2478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Bugungi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kunda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(SI)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texnologiyalari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ko‘plab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sohalarda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amaliy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darajada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ishlay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oladigan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darajaga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yetdi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lekin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hali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ham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inson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tafakkuri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darajasiga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chiqqani</a:t>
            </a:r>
            <a:r>
              <a:rPr lang="en-US" sz="2799" b="1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b="1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yo‘q</a:t>
            </a:r>
            <a:endParaRPr lang="en-US" sz="2799" b="1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70600" y="893214"/>
            <a:ext cx="4274000" cy="439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Kuchli</a:t>
            </a: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tomonlari</a:t>
            </a:r>
            <a:endParaRPr lang="en-US" sz="3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43573" y="5683542"/>
            <a:ext cx="4267196" cy="439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6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Zaif</a:t>
            </a: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tomonlari</a:t>
            </a:r>
            <a:endParaRPr lang="en-US" sz="36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97015" y="2252861"/>
            <a:ext cx="7161984" cy="2249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Katta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ma’lumotlarni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tez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tahlil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qilish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Aniqlik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va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ishonchlilik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O‘rganish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va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moslashish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Avtomatlashtirish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Til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va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tasvirni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tanish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A60986E1-A055-1BF6-8A46-1524139F607A}"/>
              </a:ext>
            </a:extLst>
          </p:cNvPr>
          <p:cNvSpPr txBox="1"/>
          <p:nvPr/>
        </p:nvSpPr>
        <p:spPr>
          <a:xfrm>
            <a:off x="10439401" y="6515100"/>
            <a:ext cx="7543796" cy="181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Haqiqiy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tushunish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yo‘q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Ma’lumotga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qaramlik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Ijodiylik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va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umumiy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aql</a:t>
            </a:r>
            <a:r>
              <a:rPr lang="en-US" sz="3200" dirty="0">
                <a:solidFill>
                  <a:schemeClr val="bg1"/>
                </a:solidFill>
                <a:latin typeface="DM Sans"/>
                <a:sym typeface="DM San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DM Sans"/>
                <a:sym typeface="DM Sans"/>
              </a:rPr>
              <a:t>yetishmasligi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  <a:p>
            <a:pPr marL="514350" indent="-514350" algn="l">
              <a:lnSpc>
                <a:spcPts val="3499"/>
              </a:lnSpc>
              <a:buFont typeface="+mj-lt"/>
              <a:buAutoNum type="arabicPeriod"/>
            </a:pPr>
            <a:r>
              <a:rPr lang="sv-SE" sz="3200" dirty="0">
                <a:solidFill>
                  <a:schemeClr val="bg1"/>
                </a:solidFill>
                <a:latin typeface="DM Sans"/>
                <a:sym typeface="DM Sans"/>
              </a:rPr>
              <a:t>Energiya va resurs sarfi katta</a:t>
            </a:r>
            <a:endParaRPr lang="en-US" sz="3200" dirty="0">
              <a:solidFill>
                <a:schemeClr val="bg1"/>
              </a:solidFill>
              <a:latin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5662583" y="2929463"/>
            <a:ext cx="2855088" cy="8116227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60" y="0"/>
                </a:lnTo>
                <a:lnTo>
                  <a:pt x="5860360" y="8017904"/>
                </a:lnTo>
                <a:lnTo>
                  <a:pt x="0" y="8017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10541" y="-192332"/>
            <a:ext cx="3400872" cy="9486900"/>
          </a:xfrm>
          <a:custGeom>
            <a:avLst/>
            <a:gdLst/>
            <a:ahLst/>
            <a:cxnLst/>
            <a:rect l="l" t="t" r="r" b="b"/>
            <a:pathLst>
              <a:path w="5860359" h="8017904">
                <a:moveTo>
                  <a:pt x="0" y="0"/>
                </a:moveTo>
                <a:lnTo>
                  <a:pt x="5860359" y="0"/>
                </a:lnTo>
                <a:lnTo>
                  <a:pt x="5860359" y="8017905"/>
                </a:lnTo>
                <a:lnTo>
                  <a:pt x="0" y="80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580821" y="2582100"/>
            <a:ext cx="4408584" cy="4104392"/>
            <a:chOff x="0" y="0"/>
            <a:chExt cx="6350000" cy="5911850"/>
          </a:xfrm>
        </p:grpSpPr>
        <p:sp>
          <p:nvSpPr>
            <p:cNvPr id="3" name="Freeform 3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/>
              <a:stretch>
                <a:fillRect l="-19842" r="-198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939708" y="2572575"/>
            <a:ext cx="4408584" cy="4104392"/>
            <a:chOff x="0" y="0"/>
            <a:chExt cx="6350000" cy="5911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2540" cy="5913120"/>
            </a:xfrm>
            <a:custGeom>
              <a:avLst/>
              <a:gdLst/>
              <a:ahLst/>
              <a:cxnLst/>
              <a:rect l="l" t="t" r="r" b="b"/>
              <a:pathLst>
                <a:path w="6352540" h="5913120">
                  <a:moveTo>
                    <a:pt x="5995670" y="1826260"/>
                  </a:moveTo>
                  <a:lnTo>
                    <a:pt x="4719320" y="1826260"/>
                  </a:lnTo>
                  <a:cubicBezTo>
                    <a:pt x="4523740" y="1826260"/>
                    <a:pt x="4364990" y="1667510"/>
                    <a:pt x="4364990" y="1471930"/>
                  </a:cubicBezTo>
                  <a:lnTo>
                    <a:pt x="4364990" y="354330"/>
                  </a:lnTo>
                  <a:cubicBezTo>
                    <a:pt x="4364990" y="158750"/>
                    <a:pt x="4206240" y="0"/>
                    <a:pt x="4010660" y="0"/>
                  </a:cubicBezTo>
                  <a:lnTo>
                    <a:pt x="1061720" y="0"/>
                  </a:lnTo>
                  <a:cubicBezTo>
                    <a:pt x="866140" y="0"/>
                    <a:pt x="707390" y="158750"/>
                    <a:pt x="707390" y="354330"/>
                  </a:cubicBezTo>
                  <a:lnTo>
                    <a:pt x="707390" y="506730"/>
                  </a:lnTo>
                  <a:cubicBezTo>
                    <a:pt x="707390" y="702310"/>
                    <a:pt x="548640" y="861060"/>
                    <a:pt x="353060" y="861060"/>
                  </a:cubicBezTo>
                  <a:cubicBezTo>
                    <a:pt x="158750" y="861060"/>
                    <a:pt x="0" y="1018540"/>
                    <a:pt x="0" y="1214120"/>
                  </a:cubicBezTo>
                  <a:lnTo>
                    <a:pt x="0" y="4723130"/>
                  </a:lnTo>
                  <a:cubicBezTo>
                    <a:pt x="0" y="4918710"/>
                    <a:pt x="158750" y="5077460"/>
                    <a:pt x="354330" y="5077460"/>
                  </a:cubicBezTo>
                  <a:cubicBezTo>
                    <a:pt x="549910" y="5077460"/>
                    <a:pt x="708660" y="5236210"/>
                    <a:pt x="708660" y="5431790"/>
                  </a:cubicBezTo>
                  <a:lnTo>
                    <a:pt x="708660" y="5558790"/>
                  </a:lnTo>
                  <a:cubicBezTo>
                    <a:pt x="708660" y="5754370"/>
                    <a:pt x="867410" y="5913120"/>
                    <a:pt x="1062990" y="5913120"/>
                  </a:cubicBezTo>
                  <a:lnTo>
                    <a:pt x="4013200" y="5913120"/>
                  </a:lnTo>
                  <a:cubicBezTo>
                    <a:pt x="4208780" y="5913120"/>
                    <a:pt x="4367530" y="5754370"/>
                    <a:pt x="4367530" y="5558790"/>
                  </a:cubicBezTo>
                  <a:lnTo>
                    <a:pt x="4367530" y="5431790"/>
                  </a:lnTo>
                  <a:cubicBezTo>
                    <a:pt x="4367530" y="5236210"/>
                    <a:pt x="4526280" y="5077460"/>
                    <a:pt x="4721860" y="5077460"/>
                  </a:cubicBezTo>
                  <a:lnTo>
                    <a:pt x="5998210" y="5077460"/>
                  </a:lnTo>
                  <a:cubicBezTo>
                    <a:pt x="6193790" y="5077460"/>
                    <a:pt x="6352540" y="4918710"/>
                    <a:pt x="6352540" y="4723130"/>
                  </a:cubicBezTo>
                  <a:lnTo>
                    <a:pt x="6352540" y="2179320"/>
                  </a:lnTo>
                  <a:cubicBezTo>
                    <a:pt x="6350000" y="1983740"/>
                    <a:pt x="6191250" y="1826260"/>
                    <a:pt x="5995670" y="1826260"/>
                  </a:cubicBezTo>
                  <a:close/>
                </a:path>
              </a:pathLst>
            </a:custGeom>
            <a:blipFill>
              <a:blip r:embed="rId5"/>
              <a:stretch>
                <a:fillRect l="-3949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232758" y="2572575"/>
            <a:ext cx="4540256" cy="4104392"/>
            <a:chOff x="0" y="0"/>
            <a:chExt cx="6350000" cy="574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6"/>
              <a:stretch>
                <a:fillRect t="-33014" b="-33014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401900" y="992432"/>
            <a:ext cx="13484200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8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Hayotiy</a:t>
            </a:r>
            <a:r>
              <a:rPr lang="en-US" sz="8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8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Qo’llanishlari</a:t>
            </a:r>
            <a:endParaRPr lang="en-US" sz="8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00516" y="6987577"/>
            <a:ext cx="296919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Fraud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5021" y="6968527"/>
            <a:ext cx="340087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0488" y="6968527"/>
            <a:ext cx="432479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Personalized marketing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FD0E7-3594-92AF-1933-4846F2E3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23757C1-2545-0390-FF69-BB36DFEC9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26"/>
            <a:ext cx="18288000" cy="1028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265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78863" y="1333056"/>
            <a:ext cx="1571938" cy="1571938"/>
          </a:xfrm>
          <a:custGeom>
            <a:avLst/>
            <a:gdLst/>
            <a:ahLst/>
            <a:cxnLst/>
            <a:rect l="l" t="t" r="r" b="b"/>
            <a:pathLst>
              <a:path w="1571938" h="1571938">
                <a:moveTo>
                  <a:pt x="0" y="0"/>
                </a:moveTo>
                <a:lnTo>
                  <a:pt x="1571938" y="0"/>
                </a:lnTo>
                <a:lnTo>
                  <a:pt x="1571938" y="1571938"/>
                </a:lnTo>
                <a:lnTo>
                  <a:pt x="0" y="1571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90374" y="4078542"/>
            <a:ext cx="1748915" cy="1748915"/>
          </a:xfrm>
          <a:custGeom>
            <a:avLst/>
            <a:gdLst/>
            <a:ahLst/>
            <a:cxnLst/>
            <a:rect l="l" t="t" r="r" b="b"/>
            <a:pathLst>
              <a:path w="1748915" h="1748915">
                <a:moveTo>
                  <a:pt x="0" y="0"/>
                </a:moveTo>
                <a:lnTo>
                  <a:pt x="1748915" y="0"/>
                </a:lnTo>
                <a:lnTo>
                  <a:pt x="1748915" y="1748916"/>
                </a:lnTo>
                <a:lnTo>
                  <a:pt x="0" y="1748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78863" y="6915529"/>
            <a:ext cx="1748553" cy="1462426"/>
          </a:xfrm>
          <a:custGeom>
            <a:avLst/>
            <a:gdLst/>
            <a:ahLst/>
            <a:cxnLst/>
            <a:rect l="l" t="t" r="r" b="b"/>
            <a:pathLst>
              <a:path w="1748553" h="1462426">
                <a:moveTo>
                  <a:pt x="0" y="0"/>
                </a:moveTo>
                <a:lnTo>
                  <a:pt x="1748553" y="0"/>
                </a:lnTo>
                <a:lnTo>
                  <a:pt x="1748553" y="1462426"/>
                </a:lnTo>
                <a:lnTo>
                  <a:pt x="0" y="1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9281" y="324589"/>
            <a:ext cx="5928219" cy="406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intellektning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muammolari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xavflari</a:t>
            </a:r>
            <a:endParaRPr lang="en-US" sz="66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33071" y="4523684"/>
            <a:ext cx="4866323" cy="477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Tanganing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ikkinchi</a:t>
            </a:r>
            <a:r>
              <a:rPr lang="en-US" sz="2799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799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tomoni</a:t>
            </a:r>
            <a:endParaRPr lang="en-US" sz="2799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23519" y="1561656"/>
            <a:ext cx="738519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800" b="1" dirty="0" err="1">
                <a:solidFill>
                  <a:schemeClr val="bg1"/>
                </a:solidFill>
                <a:latin typeface="DM Sans"/>
                <a:sym typeface="DM Sans Bold"/>
              </a:rPr>
              <a:t>Ma’lumot</a:t>
            </a:r>
            <a:r>
              <a:rPr lang="en-US" sz="2800" b="1" dirty="0">
                <a:solidFill>
                  <a:schemeClr val="bg1"/>
                </a:solidFill>
                <a:latin typeface="DM Sans"/>
                <a:sym typeface="DM Sans Bold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DM Sans"/>
                <a:sym typeface="DM Sans Bold"/>
              </a:rPr>
              <a:t>xavflari</a:t>
            </a:r>
            <a:r>
              <a:rPr lang="en-US" sz="2800" b="1" dirty="0">
                <a:solidFill>
                  <a:schemeClr val="bg1"/>
                </a:solidFill>
                <a:latin typeface="DM Sans"/>
                <a:sym typeface="DM Sans Bold"/>
              </a:rPr>
              <a:t> (Data Risks)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09326" y="4238938"/>
            <a:ext cx="693567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800" b="1" dirty="0">
                <a:solidFill>
                  <a:schemeClr val="bg1"/>
                </a:solidFill>
                <a:latin typeface="DM Sans"/>
                <a:sym typeface="DM Sans Bold"/>
              </a:rPr>
              <a:t>Model </a:t>
            </a:r>
            <a:r>
              <a:rPr lang="en-US" sz="2800" b="1" dirty="0" err="1">
                <a:solidFill>
                  <a:schemeClr val="bg1"/>
                </a:solidFill>
                <a:latin typeface="DM Sans"/>
                <a:sym typeface="DM Sans Bold"/>
              </a:rPr>
              <a:t>xavflari</a:t>
            </a:r>
            <a:r>
              <a:rPr lang="en-US" sz="2800" b="1" dirty="0">
                <a:solidFill>
                  <a:schemeClr val="bg1"/>
                </a:solidFill>
                <a:latin typeface="DM Sans"/>
                <a:sym typeface="DM Sans Bold"/>
              </a:rPr>
              <a:t> (Model Risks)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90672" y="2110996"/>
            <a:ext cx="5985636" cy="888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Noto’g’ri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ma`lumot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Maxfiy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ma`lumot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, Bias, Sifat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nazorati</a:t>
            </a:r>
            <a:endParaRPr lang="en-US" sz="28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90672" y="4788278"/>
            <a:ext cx="5985636" cy="1785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Ortiqcha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moslashish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(overfitting),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Tushunarsizlik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(black-box),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Manipulyatsiyaga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ochiqlik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, Stabil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emaslik</a:t>
            </a:r>
            <a:endParaRPr lang="en-US" sz="28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94944" y="6915529"/>
            <a:ext cx="7592526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Operatsion</a:t>
            </a:r>
            <a:r>
              <a:rPr lang="en-US" sz="2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xavflar</a:t>
            </a:r>
            <a:r>
              <a:rPr lang="en-US" sz="2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(Operational Risks)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90672" y="7464868"/>
            <a:ext cx="5985636" cy="1336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Texnik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nosozliklar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Inson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nazoratining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yetishmasligi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Etik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va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huquqiy</a:t>
            </a:r>
            <a:r>
              <a:rPr lang="en-US" sz="28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800" dirty="0" err="1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masalalar</a:t>
            </a:r>
            <a:endParaRPr lang="en-US" sz="2800" dirty="0">
              <a:solidFill>
                <a:srgbClr val="BFA8E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" name="AutoShape 13"/>
          <p:cNvSpPr/>
          <p:nvPr/>
        </p:nvSpPr>
        <p:spPr>
          <a:xfrm flipH="1">
            <a:off x="7315606" y="-844695"/>
            <a:ext cx="0" cy="11976390"/>
          </a:xfrm>
          <a:prstGeom prst="line">
            <a:avLst/>
          </a:prstGeom>
          <a:ln w="38100" cap="flat">
            <a:solidFill>
              <a:srgbClr val="9B6A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194" name="Picture 2" descr="Operational risk - Free networking icons">
            <a:extLst>
              <a:ext uri="{FF2B5EF4-FFF2-40B4-BE49-F238E27FC236}">
                <a16:creationId xmlns:a16="http://schemas.microsoft.com/office/drawing/2014/main" id="{B8515A71-8454-C791-1962-0EC8CF2D8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064" y="5524500"/>
            <a:ext cx="4172330" cy="4172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Freeform 2"/>
          <p:cNvSpPr/>
          <p:nvPr/>
        </p:nvSpPr>
        <p:spPr>
          <a:xfrm>
            <a:off x="0" y="-190500"/>
            <a:ext cx="8001000" cy="10972800"/>
          </a:xfrm>
          <a:custGeom>
            <a:avLst/>
            <a:gdLst/>
            <a:ahLst/>
            <a:cxnLst/>
            <a:rect l="l" t="t" r="r" b="b"/>
            <a:pathLst>
              <a:path w="15638093" h="16831607">
                <a:moveTo>
                  <a:pt x="0" y="0"/>
                </a:moveTo>
                <a:lnTo>
                  <a:pt x="15638093" y="0"/>
                </a:lnTo>
                <a:lnTo>
                  <a:pt x="15638093" y="16831606"/>
                </a:lnTo>
                <a:lnTo>
                  <a:pt x="0" y="16831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24200" y="3162300"/>
            <a:ext cx="8001000" cy="2306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115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Generative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6973" y="-463450"/>
            <a:ext cx="7478465" cy="11489261"/>
          </a:xfrm>
          <a:custGeom>
            <a:avLst/>
            <a:gdLst/>
            <a:ahLst/>
            <a:cxnLst/>
            <a:rect l="l" t="t" r="r" b="b"/>
            <a:pathLst>
              <a:path w="7478465" h="11489261">
                <a:moveTo>
                  <a:pt x="0" y="0"/>
                </a:moveTo>
                <a:lnTo>
                  <a:pt x="7478465" y="0"/>
                </a:lnTo>
                <a:lnTo>
                  <a:pt x="7478465" y="11489261"/>
                </a:lnTo>
                <a:lnTo>
                  <a:pt x="0" y="1148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96976" y="2592829"/>
            <a:ext cx="9233824" cy="1243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GenAI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o’zi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nima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70996" y="4152900"/>
            <a:ext cx="10236003" cy="50082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36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GenAI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bu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“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Generativ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”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atamasining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qisqartmasi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bo‘lib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u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yangi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ma’lumot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matn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rasm,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ovoz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video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yoki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kod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—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yaratishga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qodir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tizimlarini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anglatadi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algn="just">
              <a:lnSpc>
                <a:spcPts val="3919"/>
              </a:lnSpc>
            </a:pPr>
            <a:endParaRPr lang="en-US" sz="3600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919"/>
              </a:lnSpc>
            </a:pP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Oddiy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sun’iy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intellekt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mavjud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ma’lumotni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tahlil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qiladi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yoki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tasniflaydi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  <a:p>
            <a:pPr algn="just">
              <a:lnSpc>
                <a:spcPts val="3919"/>
              </a:lnSpc>
            </a:pPr>
            <a:endParaRPr lang="en-US" sz="3600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919"/>
              </a:lnSpc>
            </a:pP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GenAI </a:t>
            </a:r>
            <a:r>
              <a:rPr lang="en-US" sz="3600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esa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YANGISINI YARATADI</a:t>
            </a:r>
            <a:r>
              <a:rPr lang="en-US" sz="36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pic>
        <p:nvPicPr>
          <p:cNvPr id="10244" name="Picture 4" descr="Generative AI | TWIML">
            <a:extLst>
              <a:ext uri="{FF2B5EF4-FFF2-40B4-BE49-F238E27FC236}">
                <a16:creationId xmlns:a16="http://schemas.microsoft.com/office/drawing/2014/main" id="{896FF33C-200E-9DFA-E483-06B1253AA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0" t="16000" r="16000" b="11000"/>
          <a:stretch>
            <a:fillRect/>
          </a:stretch>
        </p:blipFill>
        <p:spPr bwMode="auto">
          <a:xfrm>
            <a:off x="457200" y="1409700"/>
            <a:ext cx="6553103" cy="713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598260" y="4066226"/>
            <a:ext cx="3574393" cy="3574393"/>
          </a:xfrm>
          <a:custGeom>
            <a:avLst/>
            <a:gdLst/>
            <a:ahLst/>
            <a:cxnLst/>
            <a:rect l="l" t="t" r="r" b="b"/>
            <a:pathLst>
              <a:path w="3574393" h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083754" y="4066226"/>
            <a:ext cx="3574393" cy="3574393"/>
          </a:xfrm>
          <a:custGeom>
            <a:avLst/>
            <a:gdLst/>
            <a:ahLst/>
            <a:cxnLst/>
            <a:rect l="l" t="t" r="r" b="b"/>
            <a:pathLst>
              <a:path w="3574393" h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79762" y="1439220"/>
            <a:ext cx="1292847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GenAI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qanday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ishlaydi</a:t>
            </a:r>
            <a:r>
              <a:rPr lang="en-US" sz="9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5374" y="8039100"/>
            <a:ext cx="4728225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Ma’lumotlarni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o‘rganish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(Training)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33065" y="8024642"/>
            <a:ext cx="5284797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Ichki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logikani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shakllantirish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(Pattern Recognition)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200" y="4066226"/>
            <a:ext cx="2163643" cy="860425"/>
            <a:chOff x="0" y="0"/>
            <a:chExt cx="489598" cy="2084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1-Bosqich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71196" y="4066226"/>
            <a:ext cx="2316141" cy="860425"/>
            <a:chOff x="0" y="0"/>
            <a:chExt cx="489598" cy="2084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2-Bosqich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rot="5400000">
            <a:off x="13570705" y="4066226"/>
            <a:ext cx="3574393" cy="3574393"/>
          </a:xfrm>
          <a:custGeom>
            <a:avLst/>
            <a:gdLst/>
            <a:ahLst/>
            <a:cxnLst/>
            <a:rect l="l" t="t" r="r" b="b"/>
            <a:pathLst>
              <a:path w="3574393" h="3574393">
                <a:moveTo>
                  <a:pt x="0" y="0"/>
                </a:moveTo>
                <a:lnTo>
                  <a:pt x="3574393" y="0"/>
                </a:lnTo>
                <a:lnTo>
                  <a:pt x="3574393" y="3574393"/>
                </a:lnTo>
                <a:lnTo>
                  <a:pt x="0" y="357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672380" y="8019565"/>
            <a:ext cx="4728225" cy="828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Yangi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kontent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yaratish</a:t>
            </a: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(Generation)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656691" y="4066226"/>
            <a:ext cx="2317598" cy="860425"/>
            <a:chOff x="0" y="0"/>
            <a:chExt cx="489598" cy="2084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9598" cy="208431"/>
            </a:xfrm>
            <a:custGeom>
              <a:avLst/>
              <a:gdLst/>
              <a:ahLst/>
              <a:cxnLst/>
              <a:rect l="l" t="t" r="r" b="b"/>
              <a:pathLst>
                <a:path w="489598" h="208431">
                  <a:moveTo>
                    <a:pt x="104215" y="0"/>
                  </a:moveTo>
                  <a:lnTo>
                    <a:pt x="385382" y="0"/>
                  </a:lnTo>
                  <a:cubicBezTo>
                    <a:pt x="442939" y="0"/>
                    <a:pt x="489598" y="46659"/>
                    <a:pt x="489598" y="104215"/>
                  </a:cubicBezTo>
                  <a:lnTo>
                    <a:pt x="489598" y="104215"/>
                  </a:lnTo>
                  <a:cubicBezTo>
                    <a:pt x="489598" y="161772"/>
                    <a:pt x="442939" y="208431"/>
                    <a:pt x="385382" y="208431"/>
                  </a:cubicBezTo>
                  <a:lnTo>
                    <a:pt x="104215" y="208431"/>
                  </a:lnTo>
                  <a:cubicBezTo>
                    <a:pt x="46659" y="208431"/>
                    <a:pt x="0" y="161772"/>
                    <a:pt x="0" y="104215"/>
                  </a:cubicBezTo>
                  <a:lnTo>
                    <a:pt x="0" y="104215"/>
                  </a:lnTo>
                  <a:cubicBezTo>
                    <a:pt x="0" y="46659"/>
                    <a:pt x="46659" y="0"/>
                    <a:pt x="10421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489598" cy="275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3-Bosqich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00AD4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1B1B1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2960400" y="6529108"/>
            <a:ext cx="12370114" cy="18898785"/>
          </a:xfrm>
          <a:custGeom>
            <a:avLst/>
            <a:gdLst/>
            <a:ahLst/>
            <a:cxnLst/>
            <a:rect l="l" t="t" r="r" b="b"/>
            <a:pathLst>
              <a:path w="12370114" h="18898785">
                <a:moveTo>
                  <a:pt x="0" y="0"/>
                </a:moveTo>
                <a:lnTo>
                  <a:pt x="12370114" y="0"/>
                </a:lnTo>
                <a:lnTo>
                  <a:pt x="12370114" y="18898785"/>
                </a:lnTo>
                <a:lnTo>
                  <a:pt x="0" y="18898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2290" name="Picture 2" descr="ChatGPT Logo PNG Images With Transparent Background">
            <a:extLst>
              <a:ext uri="{FF2B5EF4-FFF2-40B4-BE49-F238E27FC236}">
                <a16:creationId xmlns:a16="http://schemas.microsoft.com/office/drawing/2014/main" id="{C117DC6C-928B-1C49-A003-645BE0FD8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556" y="3022999"/>
            <a:ext cx="3757230" cy="3757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9"/>
          <p:cNvSpPr txBox="1"/>
          <p:nvPr/>
        </p:nvSpPr>
        <p:spPr>
          <a:xfrm>
            <a:off x="1791816" y="992432"/>
            <a:ext cx="14704368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GenAI ga </a:t>
            </a:r>
            <a:r>
              <a:rPr lang="en-US" sz="80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misollar</a:t>
            </a:r>
            <a:endParaRPr lang="en-US" sz="80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9841" y="7044083"/>
            <a:ext cx="3956326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ChatGPT (OpenAI)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91400" y="7033481"/>
            <a:ext cx="3820630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DALL·E / Midjourney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19176" y="7044083"/>
            <a:ext cx="2970333" cy="417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Suno AI / </a:t>
            </a:r>
            <a:r>
              <a:rPr lang="en-US" sz="30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Udio</a:t>
            </a:r>
            <a:endParaRPr lang="en-US" sz="3000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65030" y="7587239"/>
            <a:ext cx="484308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Describe what the tool can create and who might use it.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25374" y="7568189"/>
            <a:ext cx="484308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Describe what the tool can create and who might use it.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2803" y="7568189"/>
            <a:ext cx="484308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Describe what the tool can create and who might use it.</a:t>
            </a:r>
          </a:p>
        </p:txBody>
      </p:sp>
      <p:pic>
        <p:nvPicPr>
          <p:cNvPr id="12294" name="Picture 6" descr="Midjourney logo PNG, vector file in (SVG, EPS) formats">
            <a:extLst>
              <a:ext uri="{FF2B5EF4-FFF2-40B4-BE49-F238E27FC236}">
                <a16:creationId xmlns:a16="http://schemas.microsoft.com/office/drawing/2014/main" id="{CA7ACEF3-68FE-25D7-BE71-88E32BE07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71" y="3253518"/>
            <a:ext cx="3989379" cy="333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4" name="Picture 16" descr="Suno Raises $125M in Funding">
            <a:extLst>
              <a:ext uri="{FF2B5EF4-FFF2-40B4-BE49-F238E27FC236}">
                <a16:creationId xmlns:a16="http://schemas.microsoft.com/office/drawing/2014/main" id="{BBDCFF10-13AC-E5CD-C5C7-54D0C08E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6800" y="3046811"/>
            <a:ext cx="3810000" cy="3810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 descr="What AI Means For The Future Of Work - Work It Daily">
            <a:extLst>
              <a:ext uri="{FF2B5EF4-FFF2-40B4-BE49-F238E27FC236}">
                <a16:creationId xmlns:a16="http://schemas.microsoft.com/office/drawing/2014/main" id="{54D82462-F7E1-BA0D-FE40-E3486B860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54662" cy="1024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3"/>
          <p:cNvSpPr txBox="1"/>
          <p:nvPr/>
        </p:nvSpPr>
        <p:spPr>
          <a:xfrm>
            <a:off x="176214" y="1638300"/>
            <a:ext cx="8001000" cy="6637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8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Kelajakka</a:t>
            </a:r>
            <a:r>
              <a:rPr lang="en-US" sz="8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8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nazar</a:t>
            </a:r>
            <a:r>
              <a:rPr lang="en-US" sz="8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:</a:t>
            </a:r>
          </a:p>
          <a:p>
            <a:pPr algn="ctr">
              <a:lnSpc>
                <a:spcPts val="10499"/>
              </a:lnSpc>
            </a:pPr>
            <a:endParaRPr lang="en-US" sz="66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ctr">
              <a:lnSpc>
                <a:spcPts val="10499"/>
              </a:lnSpc>
            </a:pP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bilan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kelajakka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siz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qanday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66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fikrdasiz</a:t>
            </a:r>
            <a:r>
              <a:rPr lang="en-US" sz="66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5234A9">
                <a:alpha val="100000"/>
              </a:srgbClr>
            </a:gs>
            <a:gs pos="100000">
              <a:srgbClr val="400AD4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5DBF1-3053-D05C-E46D-1CC63F1C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F71127D-83F0-58F3-DC5E-B678890B8273}"/>
              </a:ext>
            </a:extLst>
          </p:cNvPr>
          <p:cNvSpPr txBox="1"/>
          <p:nvPr/>
        </p:nvSpPr>
        <p:spPr>
          <a:xfrm>
            <a:off x="3429000" y="3162300"/>
            <a:ext cx="10110786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8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E’tiboringiz</a:t>
            </a:r>
            <a:r>
              <a:rPr lang="en-US" sz="8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8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uchun</a:t>
            </a:r>
            <a:r>
              <a:rPr lang="en-US" sz="8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8800" b="1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rahmat</a:t>
            </a:r>
            <a:endParaRPr lang="en-US" sz="66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4EDB967A-9330-FD94-9A33-F5B1395C3F2F}"/>
              </a:ext>
            </a:extLst>
          </p:cNvPr>
          <p:cNvSpPr txBox="1"/>
          <p:nvPr/>
        </p:nvSpPr>
        <p:spPr>
          <a:xfrm>
            <a:off x="5562600" y="6419510"/>
            <a:ext cx="5729511" cy="513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BFA8EF"/>
                </a:solidFill>
                <a:latin typeface="DM Sans"/>
                <a:ea typeface="DM Sans"/>
                <a:cs typeface="DM Sans"/>
                <a:sym typeface="DM Sans"/>
              </a:rPr>
              <a:t>Elmurod Quriyozov, PhD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9EAF5AE-F757-68D3-D218-BF7A0B89B3F4}"/>
              </a:ext>
            </a:extLst>
          </p:cNvPr>
          <p:cNvSpPr txBox="1"/>
          <p:nvPr/>
        </p:nvSpPr>
        <p:spPr>
          <a:xfrm>
            <a:off x="2743200" y="723900"/>
            <a:ext cx="5124301" cy="969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Abu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Reyhon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Beruniy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nomidagi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Urganch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davlat</a:t>
            </a:r>
            <a:r>
              <a:rPr lang="en-US" sz="2400" b="1" spc="36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400" b="1" spc="360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universiteti</a:t>
            </a:r>
            <a:endParaRPr lang="en-US" sz="2400" b="1" spc="360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410E2A5-258A-3B05-E423-23647DE0D185}"/>
              </a:ext>
            </a:extLst>
          </p:cNvPr>
          <p:cNvSpPr txBox="1"/>
          <p:nvPr/>
        </p:nvSpPr>
        <p:spPr>
          <a:xfrm>
            <a:off x="6432090" y="8801100"/>
            <a:ext cx="3990529" cy="31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000" spc="360" dirty="0" err="1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Urganch</a:t>
            </a:r>
            <a:r>
              <a:rPr lang="en-US" sz="2000" spc="360" dirty="0">
                <a:solidFill>
                  <a:srgbClr val="BFA8EF"/>
                </a:solidFill>
                <a:latin typeface="DM Sans Bold"/>
                <a:ea typeface="DM Sans Bold"/>
                <a:cs typeface="DM Sans Bold"/>
                <a:sym typeface="DM Sans Bold"/>
              </a:rPr>
              <a:t>, 2025-yil</a:t>
            </a:r>
          </a:p>
        </p:txBody>
      </p:sp>
      <p:pic>
        <p:nvPicPr>
          <p:cNvPr id="6" name="Picture 8" descr="Urgench State University">
            <a:extLst>
              <a:ext uri="{FF2B5EF4-FFF2-40B4-BE49-F238E27FC236}">
                <a16:creationId xmlns:a16="http://schemas.microsoft.com/office/drawing/2014/main" id="{6A865EC4-C223-1EFD-D289-442A9C2A0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9" y="19050"/>
            <a:ext cx="2374615" cy="238122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2">
            <a:extLst>
              <a:ext uri="{FF2B5EF4-FFF2-40B4-BE49-F238E27FC236}">
                <a16:creationId xmlns:a16="http://schemas.microsoft.com/office/drawing/2014/main" id="{E8EE81BE-E5E7-F298-7EE7-DB47327DC091}"/>
              </a:ext>
            </a:extLst>
          </p:cNvPr>
          <p:cNvSpPr/>
          <p:nvPr/>
        </p:nvSpPr>
        <p:spPr>
          <a:xfrm>
            <a:off x="10591800" y="495300"/>
            <a:ext cx="8001000" cy="10972800"/>
          </a:xfrm>
          <a:custGeom>
            <a:avLst/>
            <a:gdLst/>
            <a:ahLst/>
            <a:cxnLst/>
            <a:rect l="l" t="t" r="r" b="b"/>
            <a:pathLst>
              <a:path w="15638093" h="16831607">
                <a:moveTo>
                  <a:pt x="0" y="0"/>
                </a:moveTo>
                <a:lnTo>
                  <a:pt x="15638093" y="0"/>
                </a:lnTo>
                <a:lnTo>
                  <a:pt x="15638093" y="16831606"/>
                </a:lnTo>
                <a:lnTo>
                  <a:pt x="0" y="16831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9452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535</Words>
  <Application>Microsoft Office PowerPoint</Application>
  <PresentationFormat>Custom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DM Sans</vt:lpstr>
      <vt:lpstr>Calibri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Artificial Intelligence Seminar Slides</dc:title>
  <cp:lastModifiedBy>Elmurod Kuriyozov</cp:lastModifiedBy>
  <cp:revision>82</cp:revision>
  <dcterms:created xsi:type="dcterms:W3CDTF">2006-08-16T00:00:00Z</dcterms:created>
  <dcterms:modified xsi:type="dcterms:W3CDTF">2026-01-06T04:12:47Z</dcterms:modified>
  <dc:identifier>DAG29a9mrfI</dc:identifier>
</cp:coreProperties>
</file>